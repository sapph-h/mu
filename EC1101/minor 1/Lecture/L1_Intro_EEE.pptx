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75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uil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ri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" y="-137160"/>
            <a:ext cx="3840480" cy="1399032"/>
          </a:xfrm>
          <a:prstGeom prst="rect">
            <a:avLst/>
          </a:prstGeom>
        </p:spPr>
      </p:pic>
      <p:pic>
        <p:nvPicPr>
          <p:cNvPr id="4" name="Image 2" descr="assets/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74320"/>
            <a:ext cx="4023360" cy="58521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439782" y="5087547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EC1101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1664208" y="5650992"/>
            <a:ext cx="316382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7351776" y="5650992"/>
            <a:ext cx="316382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640080" y="587044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Electrical and Electronics Engineering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sat down in this room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honestly. Every one of these is a circuit somebody had to design.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05740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8" name="Shape 4"/>
          <p:cNvSpPr/>
          <p:nvPr/>
        </p:nvSpPr>
        <p:spPr>
          <a:xfrm>
            <a:off x="749808" y="2240280"/>
            <a:ext cx="365760" cy="365760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9" name="Text 5"/>
          <p:cNvSpPr/>
          <p:nvPr/>
        </p:nvSpPr>
        <p:spPr>
          <a:xfrm>
            <a:off x="749808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34440" y="2203704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and phone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9808" y="2770632"/>
            <a:ext cx="3133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overnight at about 20-40 W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12920" y="205740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4514088" y="2240280"/>
            <a:ext cx="365760" cy="365760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14" name="Text 10"/>
          <p:cNvSpPr/>
          <p:nvPr/>
        </p:nvSpPr>
        <p:spPr>
          <a:xfrm>
            <a:off x="4514088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98720" y="2203704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14088" y="2770632"/>
            <a:ext cx="3133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sips one tenth of an old bulb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77200" y="205740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8278368" y="2240280"/>
            <a:ext cx="365760" cy="365760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19" name="Text 15"/>
          <p:cNvSpPr/>
          <p:nvPr/>
        </p:nvSpPr>
        <p:spPr>
          <a:xfrm>
            <a:off x="8278368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763000" y="2203704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or geyser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278368" y="2770632"/>
            <a:ext cx="3133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2000 W, your biggest draw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370332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23" name="Shape 19"/>
          <p:cNvSpPr/>
          <p:nvPr/>
        </p:nvSpPr>
        <p:spPr>
          <a:xfrm>
            <a:off x="749808" y="3886200"/>
            <a:ext cx="365760" cy="365760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24" name="Text 20"/>
          <p:cNvSpPr/>
          <p:nvPr/>
        </p:nvSpPr>
        <p:spPr>
          <a:xfrm>
            <a:off x="749808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234440" y="3849624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or air conditioner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49808" y="4416552"/>
            <a:ext cx="3133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motor, a capacitor and a controller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12920" y="370332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28" name="Shape 24"/>
          <p:cNvSpPr/>
          <p:nvPr/>
        </p:nvSpPr>
        <p:spPr>
          <a:xfrm>
            <a:off x="4514088" y="3886200"/>
            <a:ext cx="365760" cy="365760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29" name="Text 25"/>
          <p:cNvSpPr/>
          <p:nvPr/>
        </p:nvSpPr>
        <p:spPr>
          <a:xfrm>
            <a:off x="4514088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998720" y="3849624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or campus gate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514088" y="4416552"/>
            <a:ext cx="3133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relays, embedded logic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077200" y="370332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33" name="Shape 29"/>
          <p:cNvSpPr/>
          <p:nvPr/>
        </p:nvSpPr>
        <p:spPr>
          <a:xfrm>
            <a:off x="8278368" y="3886200"/>
            <a:ext cx="365760" cy="365760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34" name="Text 30"/>
          <p:cNvSpPr/>
          <p:nvPr/>
        </p:nvSpPr>
        <p:spPr>
          <a:xfrm>
            <a:off x="8278368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8763000" y="3849624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and mobile data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8278368" y="4416552"/>
            <a:ext cx="3133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waves shaped by electronics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words, and you can read any circuit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behaves a lot like water in a pipe, so borrow the plumbing.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148840"/>
            <a:ext cx="3505200" cy="246888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2148840"/>
            <a:ext cx="3505200" cy="73152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2423160"/>
            <a:ext cx="304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77240" y="286207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volt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3291840"/>
            <a:ext cx="3048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 pushing the water along the pipe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28160" y="2148840"/>
            <a:ext cx="3505200" cy="246888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4328160" y="2148840"/>
            <a:ext cx="3505200" cy="73152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4" name="Text 10"/>
          <p:cNvSpPr/>
          <p:nvPr/>
        </p:nvSpPr>
        <p:spPr>
          <a:xfrm>
            <a:off x="4556760" y="2423160"/>
            <a:ext cx="304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56760" y="286207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 ampere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56760" y="3291840"/>
            <a:ext cx="3048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water actually flows past you per second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07680" y="2148840"/>
            <a:ext cx="3505200" cy="246888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8107680" y="2148840"/>
            <a:ext cx="3505200" cy="73152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9" name="Text 15"/>
          <p:cNvSpPr/>
          <p:nvPr/>
        </p:nvSpPr>
        <p:spPr>
          <a:xfrm>
            <a:off x="8336280" y="2423160"/>
            <a:ext cx="304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8336280" y="2862072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ohm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336280" y="3291840"/>
            <a:ext cx="3048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pipe fights back and narrows the flow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AEC"/>
          </a:solidFill>
          <a:ln/>
        </p:spPr>
      </p:sp>
      <p:sp>
        <p:nvSpPr>
          <p:cNvPr id="23" name="Text 19"/>
          <p:cNvSpPr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the pipe and the flow drops. Push harder and the flow rises. That sentence is the whole of Ohm's law.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you will still remember at forty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first half of this course is a variation on it.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148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A1A1A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2514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I × R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8686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 Ohm published this in 1827 and was told it was worthless. He was proved right about a decade later.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68680" y="452628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E51937"/>
          </a:solidFill>
          <a:ln/>
        </p:spPr>
      </p:sp>
      <p:sp>
        <p:nvSpPr>
          <p:cNvPr id="11" name="Text 7"/>
          <p:cNvSpPr/>
          <p:nvPr/>
        </p:nvSpPr>
        <p:spPr>
          <a:xfrm>
            <a:off x="1051560" y="4526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one. A 3 V torch bulb draws 0.2 A. What is its resistance?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00600" y="2148840"/>
            <a:ext cx="6812280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4800600" y="2148840"/>
            <a:ext cx="73152" cy="1051560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4" name="Text 10"/>
          <p:cNvSpPr/>
          <p:nvPr/>
        </p:nvSpPr>
        <p:spPr>
          <a:xfrm>
            <a:off x="5074920" y="224028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V and 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74920" y="2624328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follows. Size the wire so nothing melts.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00600" y="3401568"/>
            <a:ext cx="6812280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/>
        </p:spPr>
      </p:sp>
      <p:sp>
        <p:nvSpPr>
          <p:cNvPr id="17" name="Shape 13"/>
          <p:cNvSpPr/>
          <p:nvPr/>
        </p:nvSpPr>
        <p:spPr>
          <a:xfrm>
            <a:off x="4800600" y="3401568"/>
            <a:ext cx="73152" cy="1051560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8" name="Text 14"/>
          <p:cNvSpPr/>
          <p:nvPr/>
        </p:nvSpPr>
        <p:spPr>
          <a:xfrm>
            <a:off x="5074920" y="3493008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 and R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074920" y="3877056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drop follows. That is why long cables dim lamps.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800600" y="4654296"/>
            <a:ext cx="6812280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/>
        </p:spPr>
      </p:sp>
      <p:sp>
        <p:nvSpPr>
          <p:cNvPr id="21" name="Shape 17"/>
          <p:cNvSpPr/>
          <p:nvPr/>
        </p:nvSpPr>
        <p:spPr>
          <a:xfrm>
            <a:off x="4800600" y="4654296"/>
            <a:ext cx="73152" cy="1051560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22" name="Text 18"/>
          <p:cNvSpPr/>
          <p:nvPr/>
        </p:nvSpPr>
        <p:spPr>
          <a:xfrm>
            <a:off x="5074920" y="4745736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V and I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074920" y="5129784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follows. That is how a sensor becomes a number.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the volts that get you, it is the amps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through the body, roughly, at mains frequency.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48640" y="210312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103120" y="2176272"/>
            <a:ext cx="1730045" cy="420624"/>
          </a:xfrm>
          <a:prstGeom prst="roundRect">
            <a:avLst>
              <a:gd name="adj" fmla="val 8696"/>
            </a:avLst>
          </a:prstGeom>
          <a:solidFill>
            <a:srgbClr val="F4A6B0"/>
          </a:solidFill>
          <a:ln/>
        </p:spPr>
      </p:sp>
      <p:sp>
        <p:nvSpPr>
          <p:cNvPr id="9" name="Text 5"/>
          <p:cNvSpPr/>
          <p:nvPr/>
        </p:nvSpPr>
        <p:spPr>
          <a:xfrm>
            <a:off x="4016045" y="2103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faint tingle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279806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03120" y="2871216"/>
            <a:ext cx="3302813" cy="420624"/>
          </a:xfrm>
          <a:prstGeom prst="roundRect">
            <a:avLst>
              <a:gd name="adj" fmla="val 8696"/>
            </a:avLst>
          </a:prstGeom>
          <a:solidFill>
            <a:srgbClr val="EC7C8B"/>
          </a:solidFill>
          <a:ln/>
        </p:spPr>
      </p:sp>
      <p:sp>
        <p:nvSpPr>
          <p:cNvPr id="12" name="Text 8"/>
          <p:cNvSpPr/>
          <p:nvPr/>
        </p:nvSpPr>
        <p:spPr>
          <a:xfrm>
            <a:off x="5588813" y="27980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and unpleasant, still safe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349300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103120" y="3566160"/>
            <a:ext cx="5190134" cy="420624"/>
          </a:xfrm>
          <a:prstGeom prst="roundRect">
            <a:avLst>
              <a:gd name="adj" fmla="val 8696"/>
            </a:avLst>
          </a:prstGeom>
          <a:solidFill>
            <a:srgbClr val="E94E63"/>
          </a:solidFill>
          <a:ln/>
        </p:spPr>
      </p:sp>
      <p:sp>
        <p:nvSpPr>
          <p:cNvPr id="15" name="Text 11"/>
          <p:cNvSpPr/>
          <p:nvPr/>
        </p:nvSpPr>
        <p:spPr>
          <a:xfrm>
            <a:off x="7476134" y="34930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lock, you cannot let go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418795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103120" y="4261104"/>
            <a:ext cx="7470648" cy="420624"/>
          </a:xfrm>
          <a:prstGeom prst="roundRect">
            <a:avLst>
              <a:gd name="adj" fmla="val 8696"/>
            </a:avLst>
          </a:prstGeom>
          <a:solidFill>
            <a:srgbClr val="E51937"/>
          </a:solidFill>
          <a:ln/>
        </p:spPr>
      </p:sp>
      <p:sp>
        <p:nvSpPr>
          <p:cNvPr id="18" name="Text 14"/>
          <p:cNvSpPr/>
          <p:nvPr/>
        </p:nvSpPr>
        <p:spPr>
          <a:xfrm>
            <a:off x="9756648" y="418795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Fibrillation, this is the dangerous one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50749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51480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charger delivers 2000 mA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harmless because 5 V cannot push that current through dry skin.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50749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</p:sp>
      <p:sp>
        <p:nvSpPr>
          <p:cNvPr id="23" name="Text 19"/>
          <p:cNvSpPr/>
          <p:nvPr/>
        </p:nvSpPr>
        <p:spPr>
          <a:xfrm>
            <a:off x="6446520" y="51480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 socket offers 230 V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46520" y="5486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pressure. Skin resistance is all that stands between.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or fact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 for myth. Hands down for fact. No abstaining.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1031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</p:sp>
      <p:sp>
        <p:nvSpPr>
          <p:cNvPr id="8" name="Shape 4"/>
          <p:cNvSpPr/>
          <p:nvPr/>
        </p:nvSpPr>
        <p:spPr>
          <a:xfrm>
            <a:off x="777240" y="2267712"/>
            <a:ext cx="420624" cy="420624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2267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63040" y="2103120"/>
            <a:ext cx="9829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are safe on a power line because their feet are insulated.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99923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3163824"/>
            <a:ext cx="420624" cy="420624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163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63040" y="2999232"/>
            <a:ext cx="9829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a device off at the socket means it draws nothing at all.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89534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059936"/>
            <a:ext cx="420624" cy="420624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0599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463040" y="3895344"/>
            <a:ext cx="9829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slippers will protect you from a 230 V shock.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479145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/>
        </p:spPr>
      </p:sp>
      <p:sp>
        <p:nvSpPr>
          <p:cNvPr id="20" name="Shape 16"/>
          <p:cNvSpPr/>
          <p:nvPr/>
        </p:nvSpPr>
        <p:spPr>
          <a:xfrm>
            <a:off x="777240" y="4956048"/>
            <a:ext cx="420624" cy="420624"/>
          </a:xfrm>
          <a:prstGeom prst="ellipse">
            <a:avLst/>
          </a:prstGeom>
          <a:solidFill>
            <a:srgbClr val="E51937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463040" y="4791456"/>
            <a:ext cx="9829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charger wastes energy as heat even when it is working perfectly.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4864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here is a topic we will come back to properly.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capacitor, or how to store a slap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is a reservoir that trickles. A capacitor is a bucket that dumps.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103120"/>
            <a:ext cx="4663440" cy="2834640"/>
          </a:xfrm>
          <a:prstGeom prst="roundRect">
            <a:avLst>
              <a:gd name="adj" fmla="val 1935"/>
            </a:avLst>
          </a:prstGeom>
          <a:solidFill>
            <a:srgbClr val="F5F5F5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22677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plates, one gap, no contact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269748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piles up on one plate and is pushed off the other.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crosses the gap, yet the circuit behaves as if something did.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charge and it leaves in a fraction of a millisecond.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0" y="2103120"/>
            <a:ext cx="612648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</p:sp>
      <p:sp>
        <p:nvSpPr>
          <p:cNvPr id="11" name="Shape 7"/>
          <p:cNvSpPr/>
          <p:nvPr/>
        </p:nvSpPr>
        <p:spPr>
          <a:xfrm>
            <a:off x="5486400" y="2103120"/>
            <a:ext cx="73152" cy="841248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2" name="Text 8"/>
          <p:cNvSpPr/>
          <p:nvPr/>
        </p:nvSpPr>
        <p:spPr>
          <a:xfrm>
            <a:off x="5742432" y="2176272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flash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42432" y="2505456"/>
            <a:ext cx="5623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for two seconds, empties in one thousandth of one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0" y="3054096"/>
            <a:ext cx="612648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0" y="3054096"/>
            <a:ext cx="73152" cy="841248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6" name="Text 12"/>
          <p:cNvSpPr/>
          <p:nvPr/>
        </p:nvSpPr>
        <p:spPr>
          <a:xfrm>
            <a:off x="5742432" y="3127248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Defibrillator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742432" y="3456432"/>
            <a:ext cx="5623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200 joules delivered in about ten milliseconds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0" y="4005072"/>
            <a:ext cx="6126480" cy="841248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/>
        </p:spPr>
      </p:sp>
      <p:sp>
        <p:nvSpPr>
          <p:cNvPr id="19" name="Shape 15"/>
          <p:cNvSpPr/>
          <p:nvPr/>
        </p:nvSpPr>
        <p:spPr>
          <a:xfrm>
            <a:off x="5486400" y="4005072"/>
            <a:ext cx="73152" cy="841248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20" name="Text 16"/>
          <p:cNvSpPr/>
          <p:nvPr/>
        </p:nvSpPr>
        <p:spPr>
          <a:xfrm>
            <a:off x="5742432" y="4078224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touchscreen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742432" y="4407408"/>
            <a:ext cx="5623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finger changes a tiny capacitance and the phone notices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BEAEC"/>
          </a:solidFill>
          <a:ln/>
        </p:spPr>
      </p:sp>
      <p:sp>
        <p:nvSpPr>
          <p:cNvPr id="23" name="Text 19"/>
          <p:cNvSpPr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open a switched off television. 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capacitors inside can hold a lethal charge for hours after the plug comes out. Respect them.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switch to ninety two billion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on a single commercial chip. Growth shown on a logarithmic scale.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48640" y="21031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 · Intel 4004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017520" y="2176272"/>
            <a:ext cx="438912" cy="365760"/>
          </a:xfrm>
          <a:prstGeom prst="roundRect">
            <a:avLst>
              <a:gd name="adj" fmla="val 7500"/>
            </a:avLst>
          </a:prstGeom>
          <a:solidFill>
            <a:srgbClr val="E51937"/>
          </a:solidFill>
          <a:ln/>
        </p:spPr>
      </p:sp>
      <p:sp>
        <p:nvSpPr>
          <p:cNvPr id="9" name="Text 5"/>
          <p:cNvSpPr/>
          <p:nvPr/>
        </p:nvSpPr>
        <p:spPr>
          <a:xfrm>
            <a:off x="3593592" y="21031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272491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· Pentium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017520" y="2798064"/>
            <a:ext cx="2516874" cy="365760"/>
          </a:xfrm>
          <a:prstGeom prst="roundRect">
            <a:avLst>
              <a:gd name="adj" fmla="val 7500"/>
            </a:avLst>
          </a:prstGeom>
          <a:solidFill>
            <a:srgbClr val="E51937"/>
          </a:solidFill>
          <a:ln/>
        </p:spPr>
      </p:sp>
      <p:sp>
        <p:nvSpPr>
          <p:cNvPr id="12" name="Text 8"/>
          <p:cNvSpPr/>
          <p:nvPr/>
        </p:nvSpPr>
        <p:spPr>
          <a:xfrm>
            <a:off x="5671554" y="272491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million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334670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· Core 2 Duo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017520" y="3419856"/>
            <a:ext cx="3826562" cy="365760"/>
          </a:xfrm>
          <a:prstGeom prst="roundRect">
            <a:avLst>
              <a:gd name="adj" fmla="val 7500"/>
            </a:avLst>
          </a:prstGeom>
          <a:solidFill>
            <a:srgbClr val="E51937"/>
          </a:solidFill>
          <a:ln/>
        </p:spPr>
      </p:sp>
      <p:sp>
        <p:nvSpPr>
          <p:cNvPr id="15" name="Text 11"/>
          <p:cNvSpPr/>
          <p:nvPr/>
        </p:nvSpPr>
        <p:spPr>
          <a:xfrm>
            <a:off x="6981242" y="334670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million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396849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· Apple A14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017520" y="4041648"/>
            <a:ext cx="4894207" cy="365760"/>
          </a:xfrm>
          <a:prstGeom prst="roundRect">
            <a:avLst>
              <a:gd name="adj" fmla="val 7500"/>
            </a:avLst>
          </a:prstGeom>
          <a:solidFill>
            <a:srgbClr val="E51937"/>
          </a:solidFill>
          <a:ln/>
        </p:spPr>
      </p:sp>
      <p:sp>
        <p:nvSpPr>
          <p:cNvPr id="18" name="Text 14"/>
          <p:cNvSpPr/>
          <p:nvPr/>
        </p:nvSpPr>
        <p:spPr>
          <a:xfrm>
            <a:off x="8048887" y="396849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billion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45902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· Apple M3 Max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017520" y="4663440"/>
            <a:ext cx="5486400" cy="365760"/>
          </a:xfrm>
          <a:prstGeom prst="roundRect">
            <a:avLst>
              <a:gd name="adj" fmla="val 7500"/>
            </a:avLst>
          </a:prstGeom>
          <a:solidFill>
            <a:srgbClr val="E51937"/>
          </a:solidFill>
          <a:ln/>
        </p:spPr>
      </p:sp>
      <p:sp>
        <p:nvSpPr>
          <p:cNvPr id="21" name="Text 17"/>
          <p:cNvSpPr/>
          <p:nvPr/>
        </p:nvSpPr>
        <p:spPr>
          <a:xfrm>
            <a:off x="8641080" y="45902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billion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525780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/>
        </p:spPr>
      </p:sp>
      <p:sp>
        <p:nvSpPr>
          <p:cNvPr id="23" name="Text 19"/>
          <p:cNvSpPr/>
          <p:nvPr/>
        </p:nvSpPr>
        <p:spPr>
          <a:xfrm>
            <a:off x="731520" y="5330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31520" y="56418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transistor was the size of a hand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297680" y="525780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/>
        </p:spPr>
      </p:sp>
      <p:sp>
        <p:nvSpPr>
          <p:cNvPr id="26" name="Text 22"/>
          <p:cNvSpPr/>
          <p:nvPr/>
        </p:nvSpPr>
        <p:spPr>
          <a:xfrm>
            <a:off x="4480560" y="5330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480560" y="56418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ninety million fit in the full stop at the end of this line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46720" y="525780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/>
        </p:spPr>
      </p:sp>
      <p:sp>
        <p:nvSpPr>
          <p:cNvPr id="29" name="Text 25"/>
          <p:cNvSpPr/>
          <p:nvPr/>
        </p:nvSpPr>
        <p:spPr>
          <a:xfrm>
            <a:off x="8229600" y="5330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8229600" y="56418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transistor is now cheaper than a grain of rice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is analog, your laptop is not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electronics is the translation between these two columns.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10312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F5F5F5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2267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" y="274320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in between is allowed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temperature, light, pressure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adds up and never leaves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microphone, a thermistor, an antenna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17920" y="210312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FBEAEC"/>
          </a:solidFill>
          <a:ln/>
        </p:spPr>
      </p:sp>
      <p:sp>
        <p:nvSpPr>
          <p:cNvPr id="11" name="Text 7"/>
          <p:cNvSpPr/>
          <p:nvPr/>
        </p:nvSpPr>
        <p:spPr>
          <a:xfrm>
            <a:off x="6492240" y="2267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74320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values are allowed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code, everything stored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 be cleaned off at every stage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processor, a memory chip, a logic gate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two sits the converter, and that is where a lot of engineering careers live.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semester takes you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blocks, each one building on the last.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148840"/>
            <a:ext cx="2594610" cy="3108960"/>
          </a:xfrm>
          <a:prstGeom prst="roundRect">
            <a:avLst>
              <a:gd name="adj" fmla="val 2115"/>
            </a:avLst>
          </a:prstGeom>
          <a:solidFill>
            <a:srgbClr val="F5F5F5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2148840"/>
            <a:ext cx="2594610" cy="73152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331720"/>
            <a:ext cx="2228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2880360"/>
            <a:ext cx="222885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fundamentals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1520" y="3520440"/>
            <a:ext cx="22288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Charge, current, voltage, resistance, and the laws that tie them together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71850" y="2148840"/>
            <a:ext cx="2594610" cy="3108960"/>
          </a:xfrm>
          <a:prstGeom prst="roundRect">
            <a:avLst>
              <a:gd name="adj" fmla="val 2115"/>
            </a:avLst>
          </a:prstGeom>
          <a:solidFill>
            <a:srgbClr val="F5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3371850" y="2148840"/>
            <a:ext cx="2594610" cy="73152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4" name="Text 10"/>
          <p:cNvSpPr/>
          <p:nvPr/>
        </p:nvSpPr>
        <p:spPr>
          <a:xfrm>
            <a:off x="3554730" y="2331720"/>
            <a:ext cx="2228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54730" y="2880360"/>
            <a:ext cx="222885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and storage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54730" y="3520440"/>
            <a:ext cx="22288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capacitors, inductors, and what happens when things switch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95060" y="2148840"/>
            <a:ext cx="2594610" cy="3108960"/>
          </a:xfrm>
          <a:prstGeom prst="roundRect">
            <a:avLst>
              <a:gd name="adj" fmla="val 2115"/>
            </a:avLst>
          </a:prstGeom>
          <a:solidFill>
            <a:srgbClr val="F5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195060" y="2148840"/>
            <a:ext cx="2594610" cy="73152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19" name="Text 15"/>
          <p:cNvSpPr/>
          <p:nvPr/>
        </p:nvSpPr>
        <p:spPr>
          <a:xfrm>
            <a:off x="6377940" y="2331720"/>
            <a:ext cx="2228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377940" y="2880360"/>
            <a:ext cx="222885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and electronics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377940" y="3520440"/>
            <a:ext cx="22288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Diodes, transistors, amplifiers, and the logic gate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018270" y="2148840"/>
            <a:ext cx="2594610" cy="3108960"/>
          </a:xfrm>
          <a:prstGeom prst="roundRect">
            <a:avLst>
              <a:gd name="adj" fmla="val 2115"/>
            </a:avLst>
          </a:prstGeom>
          <a:solidFill>
            <a:srgbClr val="F5F5F5"/>
          </a:solidFill>
          <a:ln/>
        </p:spPr>
      </p:sp>
      <p:sp>
        <p:nvSpPr>
          <p:cNvPr id="23" name="Shape 19"/>
          <p:cNvSpPr/>
          <p:nvPr/>
        </p:nvSpPr>
        <p:spPr>
          <a:xfrm>
            <a:off x="9018270" y="2148840"/>
            <a:ext cx="2594610" cy="73152"/>
          </a:xfrm>
          <a:prstGeom prst="rect">
            <a:avLst/>
          </a:prstGeom>
          <a:solidFill>
            <a:srgbClr val="E51937"/>
          </a:solidFill>
          <a:ln/>
        </p:spPr>
      </p:sp>
      <p:sp>
        <p:nvSpPr>
          <p:cNvPr id="24" name="Text 20"/>
          <p:cNvSpPr/>
          <p:nvPr/>
        </p:nvSpPr>
        <p:spPr>
          <a:xfrm>
            <a:off x="9201150" y="2331720"/>
            <a:ext cx="2228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9201150" y="2880360"/>
            <a:ext cx="222885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you can see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9201150" y="3520440"/>
            <a:ext cx="22288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signals, power delivery, and a working build of your own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electronics needed. Curiosity and arithmetic will carry you through the first month.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marks are made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these weights to match the scheme circulated with the syllabus.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2148840"/>
            <a:ext cx="2042160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2286000"/>
            <a:ext cx="204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85800" y="2834640"/>
            <a:ext cx="176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assessment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85800" y="3200400"/>
            <a:ext cx="176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Quizzes, assignments through the semester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73680" y="2148840"/>
            <a:ext cx="2042160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12" name="Text 8"/>
          <p:cNvSpPr/>
          <p:nvPr/>
        </p:nvSpPr>
        <p:spPr>
          <a:xfrm>
            <a:off x="2773680" y="2286000"/>
            <a:ext cx="204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910840" y="2834640"/>
            <a:ext cx="176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semester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10840" y="3200400"/>
            <a:ext cx="176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written examination at the midpoint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98720" y="2148840"/>
            <a:ext cx="2042160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16" name="Text 12"/>
          <p:cNvSpPr/>
          <p:nvPr/>
        </p:nvSpPr>
        <p:spPr>
          <a:xfrm>
            <a:off x="4998720" y="2286000"/>
            <a:ext cx="204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135880" y="2834640"/>
            <a:ext cx="176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semester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135880" y="3200400"/>
            <a:ext cx="176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covering everything from week one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315200" y="2148840"/>
            <a:ext cx="4297680" cy="3703320"/>
          </a:xfrm>
          <a:prstGeom prst="roundRect">
            <a:avLst>
              <a:gd name="adj" fmla="val 1481"/>
            </a:avLst>
          </a:prstGeom>
          <a:solidFill>
            <a:srgbClr val="1A1A1A"/>
          </a:solidFill>
          <a:ln/>
        </p:spPr>
      </p:sp>
      <p:sp>
        <p:nvSpPr>
          <p:cNvPr id="20" name="Text 16"/>
          <p:cNvSpPr/>
          <p:nvPr/>
        </p:nvSpPr>
        <p:spPr>
          <a:xfrm>
            <a:off x="758952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89520" y="2788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question. Someone else in the room has the same one.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matters because the derivations happen live, not in the notes.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calculator and a notebook. Simulation comes later.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exist. Use them before the mid semester, not after.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6234" cy="845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" y="6455664"/>
            <a:ext cx="11841480" cy="0"/>
          </a:xfrm>
          <a:prstGeom prst="line">
            <a:avLst/>
          </a:prstGeom>
          <a:noFill/>
          <a:ln w="12700">
            <a:solidFill>
              <a:srgbClr val="E51937"/>
            </a:solidFill>
            <a:prstDash val="solid"/>
          </a:ln>
        </p:spPr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6446520"/>
            <a:ext cx="2651760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circuit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48640" y="19659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19659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 you will look at a plug point, a charger or a chip and know roughly what is happening inside it. That is not a small thing.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3611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51937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37673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before the next lecture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41330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device in your room, read the rating printed on it, and work out the current it draws. Bring the number.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 now, after class, and in office hours.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1088</Words>
  <Application>Microsoft Office PowerPoint</Application>
  <PresentationFormat>Widescreen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Abburi</cp:lastModifiedBy>
  <cp:revision>6</cp:revision>
  <dcterms:created xsi:type="dcterms:W3CDTF">2026-08-10T03:17:52Z</dcterms:created>
  <dcterms:modified xsi:type="dcterms:W3CDTF">2026-08-10T07:07:16Z</dcterms:modified>
</cp:coreProperties>
</file>